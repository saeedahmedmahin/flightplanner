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Lora"/>
      <p:bold r:id="rId20"/>
      <p:boldItalic r:id="rId21"/>
    </p:embeddedFont>
    <p:embeddedFont>
      <p:font typeface="JetBrains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-bold.fntdata"/><Relationship Id="rId22" Type="http://schemas.openxmlformats.org/officeDocument/2006/relationships/font" Target="fonts/JetBrainsMono-regular.fntdata"/><Relationship Id="rId21" Type="http://schemas.openxmlformats.org/officeDocument/2006/relationships/font" Target="fonts/Lora-boldItalic.fntdata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JetBrainsMon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8529638" y="142875"/>
            <a:ext cx="271463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JetBrains Mono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[01]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21506" y="1268016"/>
            <a:ext cx="7900988" cy="58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Lora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flightPlanner: Flight Routing Engine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714500" y="2203847"/>
            <a:ext cx="5715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zero-dependency command-line application for optimal global flight path calculation using custom graph structures and C++17.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505795" y="3089672"/>
            <a:ext cx="2132409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Project Proposal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505795" y="3246834"/>
            <a:ext cx="2132409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Saeed Ahmed Mahin</a:t>
            </a:r>
            <a:b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BSSE 1703</a:t>
            </a:r>
            <a:b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Institute of Information Technology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8529638" y="142875"/>
            <a:ext cx="271463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JetBrains Mono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[02]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42900" y="628650"/>
            <a:ext cx="84582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Lor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Project Objectives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42900" y="1287661"/>
            <a:ext cx="2357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92944" y="1264444"/>
            <a:ext cx="2671763" cy="217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Lora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Large-Scale Graph Construction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42900" y="1568053"/>
            <a:ext cx="4000500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412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Represent a massive flight network of 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10,000+ airports</a:t>
            </a: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200,000+ flights</a:t>
            </a: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using an optimized adjacency list in standard C++.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42900" y="2494173"/>
            <a:ext cx="2357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92944" y="2470956"/>
            <a:ext cx="2521744" cy="217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Lora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Advanced Algorithmic Routing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42900" y="2774566"/>
            <a:ext cx="400050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412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 and compare 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Dijkstra</a:t>
            </a: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Bi-directional Dijkstra</a:t>
            </a: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A*</a:t>
            </a: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Yen's Algorithm</a:t>
            </a: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for multi-criteria pathfinding.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800600" y="1287661"/>
            <a:ext cx="2357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150644" y="1264444"/>
            <a:ext cx="2371725" cy="217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Lora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Concurrency &amp; Optimization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800600" y="1568053"/>
            <a:ext cx="4000500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412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Simulate and optimize for 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multiple concurrent users</a:t>
            </a: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searching for flights simultaneously, ensuring thread-safe data access.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800600" y="2470956"/>
            <a:ext cx="4000500" cy="1078706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800600" y="2470956"/>
            <a:ext cx="28575" cy="1078706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972050" y="2642406"/>
            <a:ext cx="3657600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4221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9C42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PERFORMANCE TARGET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972050" y="2831716"/>
            <a:ext cx="3657600" cy="546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Lora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Achieve sub-millisecond query latency for complex itineraries while maintaining a minimal memory footprint through contiguous allocation.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8529638" y="142875"/>
            <a:ext cx="271463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JetBrains Mono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[03]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42900" y="628650"/>
            <a:ext cx="84582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Lor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Core Features &amp; Functionality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42900" y="1207294"/>
            <a:ext cx="3246109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Multi-Criteria Route Search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42900" y="1446609"/>
            <a:ext cx="324610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 for "Cheapest" (price minimization) and "Fastest" (total elapsed time) routing modes using weighted graph edges.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42900" y="2253853"/>
            <a:ext cx="3246109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Dynamic Connection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42900" y="2493169"/>
            <a:ext cx="32461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On-the-fly calculation of layover feasibility, preventing invalid connections based on real-world time constraints.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42900" y="3128963"/>
            <a:ext cx="3246109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Terminal-Based Interface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42900" y="3368278"/>
            <a:ext cx="32461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clean, text-based CLI for querying routes, viewing itineraries, and managing system parameters.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931909" y="1207294"/>
            <a:ext cx="4869191" cy="3235058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0509" y="1435894"/>
            <a:ext cx="4411991" cy="182059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4887720" y="3313640"/>
            <a:ext cx="2957513" cy="10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Figure 1: Abstract representation of the directed flight network structure.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160509" y="3588674"/>
            <a:ext cx="4411991" cy="62507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160509" y="3588674"/>
            <a:ext cx="441199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0" lIns="136000" spcFirstLastPara="1" rIns="136000" wrap="square" tIns="1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5F0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F7F5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aerograph --from DAC --to JFK --mode fastest</a:t>
            </a:r>
            <a:br>
              <a:rPr b="0" i="0" lang="en-US" sz="750" u="none" cap="none" strike="noStrike">
                <a:solidFill>
                  <a:srgbClr val="F7F5F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750" u="none" cap="none" strike="noStrike">
                <a:solidFill>
                  <a:srgbClr val="F7F5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Calculating optimal route...</a:t>
            </a:r>
            <a:br>
              <a:rPr b="0" i="0" lang="en-US" sz="750" u="none" cap="none" strike="noStrike">
                <a:solidFill>
                  <a:srgbClr val="F7F5F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750" u="none" cap="none" strike="noStrike">
                <a:solidFill>
                  <a:srgbClr val="F7F5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Found: DAC -&gt; DXB -&gt; JFK (18h 45m)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/>
          <p:nvPr/>
        </p:nvSpPr>
        <p:spPr>
          <a:xfrm>
            <a:off x="8529638" y="142875"/>
            <a:ext cx="271463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JetBrains Mono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[04]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42900" y="628650"/>
            <a:ext cx="84582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Lor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Benchmark &amp; Performance Evaluation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42900" y="1271588"/>
            <a:ext cx="3102676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JetBrains Mono"/>
              <a:buNone/>
            </a:pPr>
            <a:r>
              <a:rPr b="1" i="0" lang="en-US" sz="7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ALGORITHM / OPERATION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3445576" y="1271588"/>
            <a:ext cx="3061934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JetBrains Mono"/>
              <a:buNone/>
            </a:pPr>
            <a:r>
              <a:rPr b="1" i="0" lang="en-US" sz="7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 COMPLEXITY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507510" y="1271588"/>
            <a:ext cx="229359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JetBrains Mono"/>
              <a:buNone/>
            </a:pPr>
            <a:r>
              <a:rPr b="1" i="0" lang="en-US" sz="7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SPACE COMPLEXITY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42900" y="1643063"/>
            <a:ext cx="3102676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Dijkstra / Bi-Dijkstra / A*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445576" y="1643063"/>
            <a:ext cx="3061934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O(E log V)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507510" y="1643063"/>
            <a:ext cx="2293590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O(V)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42900" y="2107406"/>
            <a:ext cx="3102676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Yen's Algorithm (K-Paths)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445576" y="2107406"/>
            <a:ext cx="3061934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O(K · V(E + V log V))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507510" y="2107406"/>
            <a:ext cx="2293590" cy="46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O(K · E + V)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42900" y="2571750"/>
            <a:ext cx="3102676" cy="467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Concurrent Query Handling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3445576" y="2571750"/>
            <a:ext cx="3061934" cy="467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O(N / Threads)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507510" y="2571750"/>
            <a:ext cx="2293590" cy="467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O(V + E) Shared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342900" y="3389709"/>
            <a:ext cx="4057650" cy="1410891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514350" y="3561159"/>
            <a:ext cx="3714750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4221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9C4221"/>
                </a:solidFill>
                <a:latin typeface="Lora"/>
                <a:ea typeface="Lora"/>
                <a:cs typeface="Lora"/>
                <a:sym typeface="Lora"/>
              </a:rPr>
              <a:t>Algorithmic Trade-offs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14350" y="3829050"/>
            <a:ext cx="3714750" cy="548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While </a:t>
            </a:r>
            <a:r>
              <a:rPr b="1" i="0" lang="en-US" sz="8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A*</a:t>
            </a:r>
            <a:r>
              <a:rPr b="0" i="0" lang="en-US" sz="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8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Bi-Dijkstra</a:t>
            </a:r>
            <a:r>
              <a:rPr b="0" i="0" lang="en-US" sz="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optimize for single-query speed, </a:t>
            </a:r>
            <a:r>
              <a:rPr b="1" i="0" lang="en-US" sz="8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Yen's Algorithm</a:t>
            </a:r>
            <a:r>
              <a:rPr b="0" i="0" lang="en-US" sz="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provides critical redundancy for flight planning at a higher computational cost.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743450" y="3389709"/>
            <a:ext cx="4057650" cy="1410891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914900" y="3561159"/>
            <a:ext cx="3714750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4221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9C4221"/>
                </a:solidFill>
                <a:latin typeface="Lora"/>
                <a:ea typeface="Lora"/>
                <a:cs typeface="Lora"/>
                <a:sym typeface="Lora"/>
              </a:rPr>
              <a:t>Optimization Focus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914900" y="3829050"/>
            <a:ext cx="3714750" cy="548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project focuses on </a:t>
            </a:r>
            <a:r>
              <a:rPr b="1" i="0" lang="en-US" sz="8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thread-safe read-only graph access</a:t>
            </a:r>
            <a:r>
              <a:rPr b="0" i="0" lang="en-US" sz="8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allowing multiple users to query the 200,000+ flight network simultaneously without data contention.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/>
          <p:nvPr/>
        </p:nvSpPr>
        <p:spPr>
          <a:xfrm>
            <a:off x="8672513" y="85725"/>
            <a:ext cx="242888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[05]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228600" y="428625"/>
            <a:ext cx="8601410" cy="4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Lora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Algorithmic Performance Comparison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296831" y="1113869"/>
            <a:ext cx="5092043" cy="2818209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281" y="1285319"/>
            <a:ext cx="4747022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/>
          <p:nvPr/>
        </p:nvSpPr>
        <p:spPr>
          <a:xfrm>
            <a:off x="468281" y="3657044"/>
            <a:ext cx="4749143" cy="10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00"/>
              <a:buFont typeface="Inter"/>
              <a:buNone/>
            </a:pPr>
            <a:r>
              <a:rPr b="0" i="1" lang="en-US" sz="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Note: Values represent relative expected execution time based on algorithmic complexity and search space pruning.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760349" y="1113869"/>
            <a:ext cx="322328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Lora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Search Space Pruning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760349" y="1321038"/>
            <a:ext cx="3223282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Inter SemiBold"/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A*</a:t>
            </a:r>
            <a:r>
              <a:rPr b="0" i="0" lang="en-US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75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Bi-directional Dijkstra</a:t>
            </a:r>
            <a:r>
              <a:rPr b="0" i="0" lang="en-US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significantly reduce the number of visited nodes by using heuristics and meeting in the middle, respectively.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760349" y="1985406"/>
            <a:ext cx="322328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Lora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K-Shortest Paths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760349" y="2192575"/>
            <a:ext cx="3223282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Inter SemiBold"/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Yen's Algorithm</a:t>
            </a:r>
            <a:r>
              <a:rPr b="0" i="0" lang="en-US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is used for finding alternative routes but carries a higher computational cost ($O(K \cdot V \cdot (E + V \log V))$).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760349" y="2856944"/>
            <a:ext cx="322328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Lora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760349" y="3064113"/>
            <a:ext cx="3223282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Standard </a:t>
            </a:r>
            <a:r>
              <a:rPr b="1" i="0" lang="en-US" sz="75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Dijkstra</a:t>
            </a:r>
            <a:r>
              <a:rPr b="0" i="0" lang="en-US" sz="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serves as the robust baseline for single-source shortest path calculation.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/>
          <p:nvPr/>
        </p:nvSpPr>
        <p:spPr>
          <a:xfrm>
            <a:off x="8529638" y="142875"/>
            <a:ext cx="271463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JetBrains Mono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[06]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342900" y="628650"/>
            <a:ext cx="84582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Lor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Technology Stack &amp; Constraints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342900" y="1264444"/>
            <a:ext cx="4000500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CORE APPLICATION (C++17)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342900" y="1510903"/>
            <a:ext cx="1410891" cy="217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Lora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Standard Library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1868091" y="1564481"/>
            <a:ext cx="1764506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850"/>
              <a:buFont typeface="JetBrains Mono"/>
              <a:buNone/>
            </a:pPr>
            <a:r>
              <a:rPr b="0" i="0" lang="en-US" sz="85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Zero External Dependencies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342900" y="1814513"/>
            <a:ext cx="567928" cy="217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Lora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CMake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025128" y="1868091"/>
            <a:ext cx="814388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850"/>
              <a:buFont typeface="JetBrains Mono"/>
              <a:buNone/>
            </a:pPr>
            <a:r>
              <a:rPr b="0" i="0" lang="en-US" sz="85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 System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342900" y="2375297"/>
            <a:ext cx="4000500" cy="132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&amp; VISUALIZATION PIPELINE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342900" y="2621756"/>
            <a:ext cx="1400175" cy="217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Lora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Python / NumPy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857375" y="2675334"/>
            <a:ext cx="1221581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850"/>
              <a:buFont typeface="JetBrains Mono"/>
              <a:buNone/>
            </a:pPr>
            <a:r>
              <a:rPr b="0" i="0" lang="en-US" sz="85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Preprocessing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342900" y="2925366"/>
            <a:ext cx="1753791" cy="217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Lora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Seaborn / Matplotlib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2210991" y="2978944"/>
            <a:ext cx="1357313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850"/>
              <a:buFont typeface="JetBrains Mono"/>
              <a:buNone/>
            </a:pPr>
            <a:r>
              <a:rPr b="0" i="0" lang="en-US" sz="85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Performance Graphing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4800600" y="1264444"/>
            <a:ext cx="4000500" cy="2037978"/>
          </a:xfrm>
          <a:prstGeom prst="rect">
            <a:avLst/>
          </a:prstGeom>
          <a:solidFill>
            <a:srgbClr val="EDEBE6"/>
          </a:solidFill>
          <a:ln cap="flat" cmpd="sng" w="9525">
            <a:solidFill>
              <a:srgbClr val="9C42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5029200" y="1493044"/>
            <a:ext cx="3543300" cy="217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4221"/>
              </a:buClr>
              <a:buSzPts val="1200"/>
              <a:buFont typeface="Lora"/>
              <a:buNone/>
            </a:pPr>
            <a:r>
              <a:rPr b="1" i="0" lang="en-US" sz="1200" u="none" cap="none" strike="noStrike">
                <a:solidFill>
                  <a:srgbClr val="9C4221"/>
                </a:solidFill>
                <a:latin typeface="Lora"/>
                <a:ea typeface="Lora"/>
                <a:cs typeface="Lora"/>
                <a:sym typeface="Lora"/>
              </a:rPr>
              <a:t>Zero-Dependency Constraint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029200" y="1825228"/>
            <a:ext cx="3543300" cy="123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demonstrate mastery of </a:t>
            </a:r>
            <a:r>
              <a:rPr b="1" i="0" lang="en-US" sz="9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memory management</a:t>
            </a: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9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structures</a:t>
            </a: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the engine will not use external libraries (Boost, SQLite, etc.). </a:t>
            </a:r>
            <a:b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All graph structures, pathfinding algorithms, and CSV parsers are </a:t>
            </a:r>
            <a:r>
              <a:rPr b="1" i="0" lang="en-US" sz="9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implemented from scratch</a:t>
            </a:r>
            <a:r>
              <a:rPr b="0" i="0" lang="en-US" sz="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/>
          <p:nvPr/>
        </p:nvSpPr>
        <p:spPr>
          <a:xfrm>
            <a:off x="8529638" y="142875"/>
            <a:ext cx="271463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JetBrains Mono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[07]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342900" y="628650"/>
            <a:ext cx="84582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Lor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Expected Deliverables &amp; Conclusion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42900" y="1271588"/>
            <a:ext cx="17748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JetBrains Mono"/>
              <a:buNone/>
            </a:pPr>
            <a:r>
              <a:rPr b="1" i="0" lang="en-US" sz="7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DELIVERABLE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2117787" y="1271588"/>
            <a:ext cx="4768118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JetBrains Mono"/>
              <a:buNone/>
            </a:pPr>
            <a:r>
              <a:rPr b="1" i="0" lang="en-US" sz="7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DESCRIPTION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885905" y="1271588"/>
            <a:ext cx="1915195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JetBrains Mono"/>
              <a:buNone/>
            </a:pPr>
            <a:r>
              <a:rPr b="1" i="0" lang="en-US" sz="7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CORE FOCUS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342900" y="1643063"/>
            <a:ext cx="1774887" cy="450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flightPlanner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2117787" y="1643063"/>
            <a:ext cx="4768118" cy="450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C++17 core with optimized concurrent query handling.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6885905" y="1643063"/>
            <a:ext cx="1915195" cy="450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Concurrency &amp; Speed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342900" y="2093119"/>
            <a:ext cx="1774887" cy="450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&amp; Visualization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2117787" y="2093119"/>
            <a:ext cx="4768118" cy="450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Python/NumPy pipeline and Seaborn performance analysis.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6885905" y="2093119"/>
            <a:ext cx="1915195" cy="450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Integrity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342900" y="2543175"/>
            <a:ext cx="1774887" cy="453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Technical Report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2117787" y="2543175"/>
            <a:ext cx="4768118" cy="453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Analysis of algorithmic trade-offs and memory optimization.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885905" y="2543175"/>
            <a:ext cx="1915195" cy="453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36000" spcFirstLastPara="1" rIns="136000" wrap="square" tIns="170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IIT Standards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342900" y="4080644"/>
            <a:ext cx="5000625" cy="719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flightPlanner demonstrates high-performance aviation routing optimized for scale and concurrency at the Institute of Information Technology.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129338" y="4629150"/>
            <a:ext cx="26717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950"/>
              <a:buFont typeface="JetBrains Mono"/>
              <a:buNone/>
            </a:pPr>
            <a:r>
              <a:rPr b="0" i="0" lang="en-US" sz="950" u="none" cap="none" strike="noStrike">
                <a:solidFill>
                  <a:srgbClr val="2C7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./flightPlanner --status ready _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