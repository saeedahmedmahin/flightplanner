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JetBrains Mono Medium" charset="1" panose="02010609020102050004"/>
      <p:regular r:id="rId11"/>
    </p:embeddedFont>
    <p:embeddedFont>
      <p:font typeface="Canva Sans" charset="1" panose="020B0503030501040103"/>
      <p:regular r:id="rId12"/>
    </p:embeddedFont>
    <p:embeddedFont>
      <p:font typeface="JetBrains Mono Bold" charset="1" panose="02010809030102050004"/>
      <p:regular r:id="rId13"/>
    </p:embeddedFont>
    <p:embeddedFont>
      <p:font typeface="JetBrains Mono Bold Italics" charset="1" panose="02010809030102050004"/>
      <p:regular r:id="rId14"/>
    </p:embeddedFont>
    <p:embeddedFont>
      <p:font typeface="JetBrains Mono Italics" charset="1" panose="02010509020102050004"/>
      <p:regular r:id="rId15"/>
    </p:embeddedFont>
    <p:embeddedFont>
      <p:font typeface="JetBrains Mono" charset="1" panose="02010509020102050004"/>
      <p:regular r:id="rId16"/>
    </p:embeddedFont>
    <p:embeddedFont>
      <p:font typeface="JetBrains Mono Ultra-Bold" charset="1" panose="0201090903010205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V_lDElO8.mp4" Type="http://schemas.microsoft.com/office/2007/relationships/media"/><Relationship Id="rId11" Target="../media/image4.jpeg" Type="http://schemas.openxmlformats.org/officeDocument/2006/relationships/image"/><Relationship Id="rId12" Target="../media/VAHV_l4hbec.mp4" Type="http://schemas.openxmlformats.org/officeDocument/2006/relationships/video"/><Relationship Id="rId13" Target="../media/VAHV_l4hbec.mp4" Type="http://schemas.microsoft.com/office/2007/relationships/media"/><Relationship Id="rId2" Target="../media/image1.jpeg" Type="http://schemas.openxmlformats.org/officeDocument/2006/relationships/image"/><Relationship Id="rId3" Target="../media/VAHV_gSzXC8.mp4" Type="http://schemas.openxmlformats.org/officeDocument/2006/relationships/video"/><Relationship Id="rId4" Target="../media/VAHV_gSzXC8.mp4" Type="http://schemas.microsoft.com/office/2007/relationships/media"/><Relationship Id="rId5" Target="../media/image2.jpeg" Type="http://schemas.openxmlformats.org/officeDocument/2006/relationships/image"/><Relationship Id="rId6" Target="../media/VAHV_hmfb6s.mp4" Type="http://schemas.openxmlformats.org/officeDocument/2006/relationships/video"/><Relationship Id="rId7" Target="../media/VAHV_hmfb6s.mp4" Type="http://schemas.microsoft.com/office/2007/relationships/media"/><Relationship Id="rId8" Target="../media/image3.jpeg" Type="http://schemas.openxmlformats.org/officeDocument/2006/relationships/image"/><Relationship Id="rId9" Target="../media/VAHV_lDElO8.mp4" Type="http://schemas.openxmlformats.org/officeDocument/2006/relationships/video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6256" y="2830394"/>
            <a:ext cx="13441710" cy="256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flightPlanner: Flight Routing Engine</a:t>
            </a:r>
          </a:p>
          <a:p>
            <a:pPr algn="ctr">
              <a:lnSpc>
                <a:spcPts val="6859"/>
              </a:lnSpc>
              <a:spcBef>
                <a:spcPct val="0"/>
              </a:spcBef>
            </a:pPr>
          </a:p>
          <a:p>
            <a:pPr algn="ctr">
              <a:lnSpc>
                <a:spcPts val="6859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>
            <a:off x="-539446" y="860405"/>
            <a:ext cx="188274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7527201" y="346885"/>
            <a:ext cx="467246" cy="5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[1]</a:t>
            </a:r>
          </a:p>
        </p:txBody>
      </p:sp>
      <p:sp>
        <p:nvSpPr>
          <p:cNvPr name="AutoShape 5" id="5"/>
          <p:cNvSpPr/>
          <p:nvPr/>
        </p:nvSpPr>
        <p:spPr>
          <a:xfrm>
            <a:off x="5960991" y="391287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268813" y="4592638"/>
            <a:ext cx="12192149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An</a:t>
            </a:r>
            <a:r>
              <a:rPr lang="en-US" b="true" sz="2000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 optimal global flight path calculater using different path finding algorithms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476926" y="6688291"/>
            <a:ext cx="5334149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Saeed Ahmed Mahin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BSSE 1703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Institute of Information Technology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96126" y="6386666"/>
            <a:ext cx="2895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Pr</a:t>
            </a:r>
            <a:r>
              <a:rPr lang="en-US" b="true" sz="2000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oject Proposal by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1873" y="1493812"/>
            <a:ext cx="6238277" cy="77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7"/>
              </a:lnSpc>
              <a:spcBef>
                <a:spcPct val="0"/>
              </a:spcBef>
            </a:pPr>
            <a:r>
              <a:rPr lang="en-US" b="true" sz="4548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Project Objectives</a:t>
            </a:r>
          </a:p>
        </p:txBody>
      </p:sp>
      <p:sp>
        <p:nvSpPr>
          <p:cNvPr name="AutoShape 3" id="3"/>
          <p:cNvSpPr/>
          <p:nvPr/>
        </p:nvSpPr>
        <p:spPr>
          <a:xfrm>
            <a:off x="-539446" y="860405"/>
            <a:ext cx="188274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7524028" y="346885"/>
            <a:ext cx="473592" cy="5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1873" y="3221044"/>
            <a:ext cx="6236345" cy="8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407" b="true">
                <a:solidFill>
                  <a:srgbClr val="069D5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01.</a:t>
            </a:r>
            <a:r>
              <a:rPr lang="en-US" sz="2407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Large Scale Graph Construction</a:t>
            </a:r>
          </a:p>
          <a:p>
            <a:pPr algn="l">
              <a:lnSpc>
                <a:spcPts val="3369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089721"/>
            <a:ext cx="5869484" cy="166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407" b="true">
                <a:solidFill>
                  <a:srgbClr val="069D5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</a:t>
            </a:r>
            <a:r>
              <a:rPr lang="en-US" sz="2407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Advanced Algorithmic Routing</a:t>
            </a:r>
          </a:p>
          <a:p>
            <a:pPr algn="l">
              <a:lnSpc>
                <a:spcPts val="3369"/>
              </a:lnSpc>
            </a:pPr>
          </a:p>
          <a:p>
            <a:pPr algn="l">
              <a:lnSpc>
                <a:spcPts val="3369"/>
              </a:lnSpc>
            </a:pPr>
          </a:p>
          <a:p>
            <a:pPr algn="l">
              <a:lnSpc>
                <a:spcPts val="3369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9315" y="3887541"/>
            <a:ext cx="7046456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54545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Represent a massive flight network of</a:t>
            </a:r>
            <a:r>
              <a:rPr lang="en-US" b="true" sz="1800" i="true">
                <a:solidFill>
                  <a:srgbClr val="000000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 5,500+ airports and 130,000+ flights</a:t>
            </a:r>
            <a:r>
              <a:rPr lang="en-US" b="true" sz="1800">
                <a:solidFill>
                  <a:srgbClr val="54545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using an optimized adjacency list in standard C++. The data is collected from OpenFlights API.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142" y="6717418"/>
            <a:ext cx="7046456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54545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Implement and compare </a:t>
            </a:r>
            <a:r>
              <a:rPr lang="en-US" b="true" sz="1800" i="true">
                <a:solidFill>
                  <a:srgbClr val="000000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Dijkstra, Bi-directional Dijkstra, A*, and Bellman Ford Algorithm</a:t>
            </a:r>
            <a:r>
              <a:rPr lang="en-US" b="true" sz="1800">
                <a:solidFill>
                  <a:srgbClr val="54545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for multi-criteria pathfinding.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221044"/>
            <a:ext cx="5502622" cy="166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407" b="true">
                <a:solidFill>
                  <a:srgbClr val="069D5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</a:t>
            </a:r>
            <a:r>
              <a:rPr lang="en-US" sz="2407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Concurrency &amp; Optimization</a:t>
            </a:r>
          </a:p>
          <a:p>
            <a:pPr algn="l">
              <a:lnSpc>
                <a:spcPts val="3369"/>
              </a:lnSpc>
            </a:pPr>
          </a:p>
          <a:p>
            <a:pPr algn="l">
              <a:lnSpc>
                <a:spcPts val="3369"/>
              </a:lnSpc>
            </a:pPr>
          </a:p>
          <a:p>
            <a:pPr algn="l">
              <a:lnSpc>
                <a:spcPts val="3369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71442" y="3887541"/>
            <a:ext cx="7046456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54545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Simulate and optimize for </a:t>
            </a:r>
            <a:r>
              <a:rPr lang="en-US" b="true" sz="1800" i="true">
                <a:solidFill>
                  <a:srgbClr val="000000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multiple concurrent users</a:t>
            </a:r>
            <a:r>
              <a:rPr lang="en-US" b="true" sz="1800">
                <a:solidFill>
                  <a:srgbClr val="54545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searching for flights simultaneously, ensuring thread-safe data access.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242806" y="6089721"/>
            <a:ext cx="4402187" cy="166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407" b="true">
                <a:solidFill>
                  <a:srgbClr val="069D5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</a:t>
            </a:r>
            <a:r>
              <a:rPr lang="en-US" sz="2407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Algorithm Comparison</a:t>
            </a:r>
          </a:p>
          <a:p>
            <a:pPr algn="l">
              <a:lnSpc>
                <a:spcPts val="3369"/>
              </a:lnSpc>
            </a:pPr>
          </a:p>
          <a:p>
            <a:pPr algn="l">
              <a:lnSpc>
                <a:spcPts val="3369"/>
              </a:lnSpc>
            </a:pPr>
          </a:p>
          <a:p>
            <a:pPr algn="l">
              <a:lnSpc>
                <a:spcPts val="3369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70248" y="6756218"/>
            <a:ext cx="7046456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54545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Finding the best Algorithm for flight mapping by showing the comparison of</a:t>
            </a:r>
            <a:r>
              <a:rPr lang="en-US" b="true" sz="1800" i="true">
                <a:solidFill>
                  <a:srgbClr val="000000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 time required and airports discovered for each algorithm.</a:t>
            </a:r>
            <a:r>
              <a:rPr lang="en-US" b="true" sz="1800">
                <a:solidFill>
                  <a:srgbClr val="545454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1800" i="true">
                <a:solidFill>
                  <a:srgbClr val="545454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Less is better!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794" t="0" r="12848" b="0"/>
          <a:stretch>
            <a:fillRect/>
          </a:stretch>
        </p:blipFill>
        <p:spPr>
          <a:xfrm flipH="false" flipV="false" rot="0">
            <a:off x="0" y="0"/>
            <a:ext cx="8938134" cy="5705734"/>
          </a:xfrm>
          <a:prstGeom prst="rect">
            <a:avLst/>
          </a:prstGeom>
        </p:spPr>
      </p:pic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20095" r="14818" b="115"/>
          <a:stretch>
            <a:fillRect/>
          </a:stretch>
        </p:blipFill>
        <p:spPr>
          <a:xfrm flipH="false" flipV="false" rot="0">
            <a:off x="9057519" y="0"/>
            <a:ext cx="9342270" cy="4824125"/>
          </a:xfrm>
          <a:prstGeom prst="rect">
            <a:avLst/>
          </a:prstGeom>
        </p:spPr>
      </p:pic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140" t="15200" r="22507" b="863"/>
          <a:stretch>
            <a:fillRect/>
          </a:stretch>
        </p:blipFill>
        <p:spPr>
          <a:xfrm flipH="false" flipV="false" rot="0">
            <a:off x="0" y="5143500"/>
            <a:ext cx="8938134" cy="5346744"/>
          </a:xfrm>
          <a:prstGeom prst="rect">
            <a:avLst/>
          </a:prstGeom>
        </p:spPr>
      </p:pic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1"/>
          <a:srcRect l="1119" t="7810" r="23282" b="994"/>
          <a:stretch>
            <a:fillRect/>
          </a:stretch>
        </p:blipFill>
        <p:spPr>
          <a:xfrm flipH="false" flipV="false" rot="0">
            <a:off x="9057519" y="4579667"/>
            <a:ext cx="9230481" cy="6138249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518079" y="346885"/>
            <a:ext cx="485491" cy="5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[3]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63313" y="4692565"/>
            <a:ext cx="2017663" cy="405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  <a:spcBef>
                <a:spcPct val="0"/>
              </a:spcBef>
            </a:pPr>
            <a:r>
              <a:rPr lang="en-US" b="true" sz="24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Bi-Dijkstra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30262" y="9496716"/>
            <a:ext cx="366861" cy="405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  <a:spcBef>
                <a:spcPct val="0"/>
              </a:spcBef>
            </a:pPr>
            <a:r>
              <a:rPr lang="en-US" b="true" sz="24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A*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79970" y="4592368"/>
            <a:ext cx="1467445" cy="405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  <a:spcBef>
                <a:spcPct val="0"/>
              </a:spcBef>
            </a:pPr>
            <a:r>
              <a:rPr lang="en-US" b="true" sz="24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Dijkstra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68483" y="9496716"/>
            <a:ext cx="2201168" cy="405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  <a:spcBef>
                <a:spcPct val="0"/>
              </a:spcBef>
            </a:pPr>
            <a:r>
              <a:rPr lang="en-US" b="true" sz="24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Bellman Ford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79455"/>
            <a:ext cx="188274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89030" y="3721158"/>
            <a:ext cx="8727555" cy="4314785"/>
            <a:chOff x="0" y="0"/>
            <a:chExt cx="2298615" cy="11364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98615" cy="1136404"/>
            </a:xfrm>
            <a:custGeom>
              <a:avLst/>
              <a:gdLst/>
              <a:ahLst/>
              <a:cxnLst/>
              <a:rect r="r" b="b" t="t" l="l"/>
              <a:pathLst>
                <a:path h="1136404" w="2298615">
                  <a:moveTo>
                    <a:pt x="0" y="0"/>
                  </a:moveTo>
                  <a:lnTo>
                    <a:pt x="2298615" y="0"/>
                  </a:lnTo>
                  <a:lnTo>
                    <a:pt x="2298615" y="1136404"/>
                  </a:lnTo>
                  <a:lnTo>
                    <a:pt x="0" y="113640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98615" cy="1184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27811" y="3688893"/>
            <a:ext cx="8660189" cy="4289590"/>
          </a:xfrm>
          <a:custGeom>
            <a:avLst/>
            <a:gdLst/>
            <a:ahLst/>
            <a:cxnLst/>
            <a:rect r="r" b="b" t="t" l="l"/>
            <a:pathLst>
              <a:path h="4289590" w="8660189">
                <a:moveTo>
                  <a:pt x="0" y="0"/>
                </a:moveTo>
                <a:lnTo>
                  <a:pt x="8660189" y="0"/>
                </a:lnTo>
                <a:lnTo>
                  <a:pt x="8660189" y="4289590"/>
                </a:lnTo>
                <a:lnTo>
                  <a:pt x="0" y="42895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46" t="0" r="-2719" b="-5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2658" y="1366645"/>
            <a:ext cx="5547420" cy="77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b="true" sz="4550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Expected Outcome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513253" y="346885"/>
            <a:ext cx="495143" cy="5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[4]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4819" y="4049428"/>
            <a:ext cx="8411766" cy="352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9"/>
              </a:lnSpc>
              <a:spcBef>
                <a:spcPct val="0"/>
              </a:spcBef>
            </a:pPr>
            <a:r>
              <a:rPr lang="en-US" b="true" sz="20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$ flightPlanner --from DAC --to JFK --mode fastest</a:t>
            </a:r>
          </a:p>
          <a:p>
            <a:pPr algn="l">
              <a:lnSpc>
                <a:spcPts val="2809"/>
              </a:lnSpc>
              <a:spcBef>
                <a:spcPct val="0"/>
              </a:spcBef>
            </a:pPr>
            <a:r>
              <a:rPr lang="en-US" b="true" sz="20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&gt; Calculating optimal route...</a:t>
            </a:r>
          </a:p>
          <a:p>
            <a:pPr algn="l">
              <a:lnSpc>
                <a:spcPts val="2809"/>
              </a:lnSpc>
              <a:spcBef>
                <a:spcPct val="0"/>
              </a:spcBef>
            </a:pPr>
            <a:r>
              <a:rPr lang="en-US" b="true" sz="20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&gt; Found: DAC -&gt; DXB -&gt; JFK (18h 45m) (745 USD)</a:t>
            </a:r>
          </a:p>
          <a:p>
            <a:pPr algn="l">
              <a:lnSpc>
                <a:spcPts val="2809"/>
              </a:lnSpc>
              <a:spcBef>
                <a:spcPct val="0"/>
              </a:spcBef>
            </a:pPr>
            <a:r>
              <a:rPr lang="en-US" b="true" sz="20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&gt; Via Emirates EK-107 &amp; EK-202</a:t>
            </a:r>
          </a:p>
          <a:p>
            <a:pPr algn="l">
              <a:lnSpc>
                <a:spcPts val="2809"/>
              </a:lnSpc>
              <a:spcBef>
                <a:spcPct val="0"/>
              </a:spcBef>
            </a:pPr>
          </a:p>
          <a:p>
            <a:pPr algn="l">
              <a:lnSpc>
                <a:spcPts val="2809"/>
              </a:lnSpc>
              <a:spcBef>
                <a:spcPct val="0"/>
              </a:spcBef>
            </a:pPr>
            <a:r>
              <a:rPr lang="en-US" b="true" sz="20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&gt; Algorithm Rankings:</a:t>
            </a:r>
          </a:p>
          <a:p>
            <a:pPr algn="l">
              <a:lnSpc>
                <a:spcPts val="2809"/>
              </a:lnSpc>
              <a:spcBef>
                <a:spcPct val="0"/>
              </a:spcBef>
            </a:pPr>
            <a:r>
              <a:rPr lang="en-US" b="true" sz="20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&gt; 1. A*: 340 airports discovered in 28 ms.</a:t>
            </a:r>
          </a:p>
          <a:p>
            <a:pPr algn="l">
              <a:lnSpc>
                <a:spcPts val="2809"/>
              </a:lnSpc>
              <a:spcBef>
                <a:spcPct val="0"/>
              </a:spcBef>
            </a:pPr>
            <a:r>
              <a:rPr lang="en-US" b="true" sz="20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&gt; 2. Bi-Dijkstra: 1472 airports discovered in 82 ms.</a:t>
            </a:r>
          </a:p>
          <a:p>
            <a:pPr algn="l">
              <a:lnSpc>
                <a:spcPts val="2809"/>
              </a:lnSpc>
              <a:spcBef>
                <a:spcPct val="0"/>
              </a:spcBef>
            </a:pPr>
            <a:r>
              <a:rPr lang="en-US" b="true" sz="20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&gt; 3. Dijkstra: 3341 airports discovered in 192 ms.</a:t>
            </a:r>
          </a:p>
          <a:p>
            <a:pPr algn="l">
              <a:lnSpc>
                <a:spcPts val="2809"/>
              </a:lnSpc>
              <a:spcBef>
                <a:spcPct val="0"/>
              </a:spcBef>
            </a:pPr>
            <a:r>
              <a:rPr lang="en-US" b="true" sz="2007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&gt; 4. Bellman Ford: 5465 airports discovered in 411 ms.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56616" y="7997843"/>
            <a:ext cx="1101626" cy="3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  <a:spcBef>
                <a:spcPct val="0"/>
              </a:spcBef>
            </a:pPr>
            <a:r>
              <a:rPr lang="en-US" b="true" sz="1807" i="true">
                <a:solidFill>
                  <a:srgbClr val="000000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Dijkstra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0809" y="7997843"/>
            <a:ext cx="1514773" cy="3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  <a:spcBef>
                <a:spcPct val="0"/>
              </a:spcBef>
            </a:pPr>
            <a:r>
              <a:rPr lang="en-US" b="true" sz="1807" i="true">
                <a:solidFill>
                  <a:srgbClr val="2D7A7B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Bi-Dijkstra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55132" y="7997843"/>
            <a:ext cx="275481" cy="3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  <a:spcBef>
                <a:spcPct val="0"/>
              </a:spcBef>
            </a:pPr>
            <a:r>
              <a:rPr lang="en-US" b="true" sz="1807" i="true">
                <a:solidFill>
                  <a:srgbClr val="D97736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A*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04710" y="7997843"/>
            <a:ext cx="1652439" cy="3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  <a:spcBef>
                <a:spcPct val="0"/>
              </a:spcBef>
            </a:pPr>
            <a:r>
              <a:rPr lang="en-US" b="true" sz="1807" i="true">
                <a:solidFill>
                  <a:srgbClr val="9C4221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Bellman Ford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06845" y="2890371"/>
            <a:ext cx="2201168" cy="405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Graphically: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9030" y="2890371"/>
            <a:ext cx="2201168" cy="405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 Terminal: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05813" y="9220200"/>
            <a:ext cx="10172402" cy="3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9"/>
              </a:lnSpc>
              <a:spcBef>
                <a:spcPct val="0"/>
              </a:spcBef>
            </a:pPr>
            <a:r>
              <a:rPr lang="en-US" sz="1907" i="true">
                <a:solidFill>
                  <a:srgbClr val="000000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NB: These are just hypothetical values without any statistical weight.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89255" y="3034294"/>
            <a:ext cx="2653673" cy="3280781"/>
            <a:chOff x="0" y="0"/>
            <a:chExt cx="698910" cy="864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910" cy="864074"/>
            </a:xfrm>
            <a:custGeom>
              <a:avLst/>
              <a:gdLst/>
              <a:ahLst/>
              <a:cxnLst/>
              <a:rect r="r" b="b" t="t" l="l"/>
              <a:pathLst>
                <a:path h="864074" w="698910">
                  <a:moveTo>
                    <a:pt x="0" y="0"/>
                  </a:moveTo>
                  <a:lnTo>
                    <a:pt x="698910" y="0"/>
                  </a:lnTo>
                  <a:lnTo>
                    <a:pt x="698910" y="864074"/>
                  </a:lnTo>
                  <a:lnTo>
                    <a:pt x="0" y="864074"/>
                  </a:lnTo>
                  <a:close/>
                </a:path>
              </a:pathLst>
            </a:custGeom>
            <a:solidFill>
              <a:srgbClr val="FFFA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98910" cy="921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3007402"/>
            <a:ext cx="14614227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6315075"/>
            <a:ext cx="2756361" cy="3421973"/>
            <a:chOff x="0" y="0"/>
            <a:chExt cx="3675148" cy="4562630"/>
          </a:xfrm>
        </p:grpSpPr>
        <p:grpSp>
          <p:nvGrpSpPr>
            <p:cNvPr name="Group 7" id="7"/>
            <p:cNvGrpSpPr/>
            <p:nvPr/>
          </p:nvGrpSpPr>
          <p:grpSpPr>
            <a:xfrm rot="5400000">
              <a:off x="-1151211" y="1151211"/>
              <a:ext cx="4562630" cy="2260208"/>
              <a:chOff x="0" y="0"/>
              <a:chExt cx="653128" cy="32354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53128" cy="323543"/>
              </a:xfrm>
              <a:custGeom>
                <a:avLst/>
                <a:gdLst/>
                <a:ahLst/>
                <a:cxnLst/>
                <a:rect r="r" b="b" t="t" l="l"/>
                <a:pathLst>
                  <a:path h="323543" w="653128">
                    <a:moveTo>
                      <a:pt x="217827" y="304474"/>
                    </a:moveTo>
                    <a:cubicBezTo>
                      <a:pt x="251311" y="315987"/>
                      <a:pt x="289378" y="323543"/>
                      <a:pt x="326740" y="323543"/>
                    </a:cubicBezTo>
                    <a:cubicBezTo>
                      <a:pt x="364103" y="323543"/>
                      <a:pt x="400055" y="317066"/>
                      <a:pt x="433186" y="305552"/>
                    </a:cubicBezTo>
                    <a:cubicBezTo>
                      <a:pt x="433892" y="305192"/>
                      <a:pt x="434596" y="305192"/>
                      <a:pt x="435301" y="304833"/>
                    </a:cubicBezTo>
                    <a:cubicBezTo>
                      <a:pt x="559723" y="258778"/>
                      <a:pt x="651366" y="137164"/>
                      <a:pt x="653128" y="5908"/>
                    </a:cubicBezTo>
                    <a:lnTo>
                      <a:pt x="653128" y="0"/>
                    </a:lnTo>
                    <a:lnTo>
                      <a:pt x="0" y="0"/>
                    </a:lnTo>
                    <a:lnTo>
                      <a:pt x="0" y="5904"/>
                    </a:lnTo>
                    <a:cubicBezTo>
                      <a:pt x="1762" y="137883"/>
                      <a:pt x="91995" y="259498"/>
                      <a:pt x="217827" y="304474"/>
                    </a:cubicBezTo>
                    <a:close/>
                  </a:path>
                </a:pathLst>
              </a:custGeom>
              <a:ln w="762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653128" cy="2536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148775" y="101600"/>
              <a:ext cx="1526374" cy="4355580"/>
              <a:chOff x="0" y="0"/>
              <a:chExt cx="301506" cy="86036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01506" cy="860362"/>
              </a:xfrm>
              <a:custGeom>
                <a:avLst/>
                <a:gdLst/>
                <a:ahLst/>
                <a:cxnLst/>
                <a:rect r="r" b="b" t="t" l="l"/>
                <a:pathLst>
                  <a:path h="860362" w="301506">
                    <a:moveTo>
                      <a:pt x="0" y="0"/>
                    </a:moveTo>
                    <a:lnTo>
                      <a:pt x="301506" y="0"/>
                    </a:lnTo>
                    <a:lnTo>
                      <a:pt x="301506" y="860362"/>
                    </a:lnTo>
                    <a:lnTo>
                      <a:pt x="0" y="860362"/>
                    </a:lnTo>
                    <a:close/>
                  </a:path>
                </a:pathLst>
              </a:custGeom>
              <a:solidFill>
                <a:srgbClr val="FFFAF3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301506" cy="917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 flipV="true">
            <a:off x="2720766" y="9649656"/>
            <a:ext cx="14495772" cy="49292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2720636" y="6353175"/>
            <a:ext cx="12922291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2640281" y="3007402"/>
            <a:ext cx="0" cy="830763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6" id="16"/>
          <p:cNvSpPr/>
          <p:nvPr/>
        </p:nvSpPr>
        <p:spPr>
          <a:xfrm>
            <a:off x="6418253" y="3007402"/>
            <a:ext cx="0" cy="830763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7" id="17"/>
          <p:cNvSpPr/>
          <p:nvPr/>
        </p:nvSpPr>
        <p:spPr>
          <a:xfrm>
            <a:off x="10224800" y="3007402"/>
            <a:ext cx="0" cy="830763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8" id="18"/>
          <p:cNvSpPr/>
          <p:nvPr/>
        </p:nvSpPr>
        <p:spPr>
          <a:xfrm>
            <a:off x="14069446" y="3007402"/>
            <a:ext cx="0" cy="830763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9" id="19"/>
          <p:cNvSpPr/>
          <p:nvPr/>
        </p:nvSpPr>
        <p:spPr>
          <a:xfrm>
            <a:off x="4804303" y="6353175"/>
            <a:ext cx="0" cy="830763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>
            <a:off x="9144000" y="6353175"/>
            <a:ext cx="0" cy="830763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1" id="21"/>
          <p:cNvSpPr/>
          <p:nvPr/>
        </p:nvSpPr>
        <p:spPr>
          <a:xfrm>
            <a:off x="13483697" y="6353175"/>
            <a:ext cx="0" cy="830763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4116738"/>
            <a:ext cx="3146962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spc="16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3008" y="4731418"/>
            <a:ext cx="3578345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spc="65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Initializing the project &amp; Gaining required Knowledge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806672" y="4145313"/>
            <a:ext cx="3146962" cy="1378585"/>
            <a:chOff x="0" y="0"/>
            <a:chExt cx="4195949" cy="183811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28575"/>
              <a:ext cx="4195949" cy="672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60"/>
                </a:lnSpc>
              </a:pPr>
              <a:r>
                <a:rPr lang="en-US" sz="3200" spc="160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800523"/>
              <a:ext cx="4195949" cy="1037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Parsing Data and Graph creation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831288" y="4116738"/>
            <a:ext cx="3280312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spc="16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2-MID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84644" y="4731418"/>
            <a:ext cx="3280312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spc="65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Creating Algorithms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230822" y="7622123"/>
            <a:ext cx="3146962" cy="969010"/>
            <a:chOff x="0" y="0"/>
            <a:chExt cx="4195949" cy="1292013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28575"/>
              <a:ext cx="4195949" cy="672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60"/>
                </a:lnSpc>
              </a:pPr>
              <a:r>
                <a:rPr lang="en-US" sz="3200" spc="160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4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800523"/>
              <a:ext cx="4195949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GUI </a:t>
              </a:r>
              <a:r>
                <a:rPr lang="en-US" sz="2199" spc="65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Development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570519" y="7622123"/>
            <a:ext cx="3146962" cy="969010"/>
            <a:chOff x="0" y="0"/>
            <a:chExt cx="4195949" cy="1292013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28575"/>
              <a:ext cx="4195949" cy="672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60"/>
                </a:lnSpc>
              </a:pPr>
              <a:r>
                <a:rPr lang="en-US" sz="3200" spc="160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5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800523"/>
              <a:ext cx="4195949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</a:pPr>
              <a:r>
                <a:rPr lang="en-US" sz="2199" spc="65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Testing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109208" y="7612563"/>
            <a:ext cx="3533719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spc="16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6-FINAL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96974" y="8257758"/>
            <a:ext cx="3146962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spc="65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Visualizing Findings 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28700" y="1254493"/>
            <a:ext cx="15790648" cy="1334167"/>
            <a:chOff x="0" y="0"/>
            <a:chExt cx="21054197" cy="1778889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-38100"/>
              <a:ext cx="21054197" cy="974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34"/>
                </a:lnSpc>
              </a:pPr>
              <a:r>
                <a:rPr lang="en-US" sz="4641" spc="139" b="true">
                  <a:solidFill>
                    <a:srgbClr val="000000"/>
                  </a:solidFill>
                  <a:latin typeface="JetBrains Mono Ultra-Bold"/>
                  <a:ea typeface="JetBrains Mono Ultra-Bold"/>
                  <a:cs typeface="JetBrains Mono Ultra-Bold"/>
                  <a:sym typeface="JetBrains Mono Ultra-Bold"/>
                </a:rPr>
                <a:t>flightPlanner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1126069"/>
              <a:ext cx="21054197" cy="652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55"/>
                </a:lnSpc>
              </a:pPr>
              <a:r>
                <a:rPr lang="en-US" sz="2836" spc="85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Project Timeline (</a:t>
              </a:r>
              <a:r>
                <a:rPr lang="en-US" sz="2836" i="true" spc="85">
                  <a:solidFill>
                    <a:srgbClr val="000000"/>
                  </a:solidFill>
                  <a:latin typeface="JetBrains Mono Italics"/>
                  <a:ea typeface="JetBrains Mono Italics"/>
                  <a:cs typeface="JetBrains Mono Italics"/>
                  <a:sym typeface="JetBrains Mono Italics"/>
                </a:rPr>
                <a:t>Fortnights</a:t>
              </a:r>
              <a:r>
                <a:rPr lang="en-US" sz="2836" spc="85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-10800000">
            <a:off x="14502939" y="2963698"/>
            <a:ext cx="2756361" cy="3421973"/>
            <a:chOff x="0" y="0"/>
            <a:chExt cx="3675148" cy="4562630"/>
          </a:xfrm>
        </p:grpSpPr>
        <p:grpSp>
          <p:nvGrpSpPr>
            <p:cNvPr name="Group 41" id="41"/>
            <p:cNvGrpSpPr/>
            <p:nvPr/>
          </p:nvGrpSpPr>
          <p:grpSpPr>
            <a:xfrm rot="5400000">
              <a:off x="-1151211" y="1151211"/>
              <a:ext cx="4562630" cy="2260208"/>
              <a:chOff x="0" y="0"/>
              <a:chExt cx="653128" cy="323543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53128" cy="323543"/>
              </a:xfrm>
              <a:custGeom>
                <a:avLst/>
                <a:gdLst/>
                <a:ahLst/>
                <a:cxnLst/>
                <a:rect r="r" b="b" t="t" l="l"/>
                <a:pathLst>
                  <a:path h="323543" w="653128">
                    <a:moveTo>
                      <a:pt x="217827" y="304474"/>
                    </a:moveTo>
                    <a:cubicBezTo>
                      <a:pt x="251311" y="315987"/>
                      <a:pt x="289378" y="323543"/>
                      <a:pt x="326740" y="323543"/>
                    </a:cubicBezTo>
                    <a:cubicBezTo>
                      <a:pt x="364103" y="323543"/>
                      <a:pt x="400055" y="317066"/>
                      <a:pt x="433186" y="305552"/>
                    </a:cubicBezTo>
                    <a:cubicBezTo>
                      <a:pt x="433892" y="305192"/>
                      <a:pt x="434596" y="305192"/>
                      <a:pt x="435301" y="304833"/>
                    </a:cubicBezTo>
                    <a:cubicBezTo>
                      <a:pt x="559723" y="258778"/>
                      <a:pt x="651366" y="137164"/>
                      <a:pt x="653128" y="5908"/>
                    </a:cubicBezTo>
                    <a:lnTo>
                      <a:pt x="653128" y="0"/>
                    </a:lnTo>
                    <a:lnTo>
                      <a:pt x="0" y="0"/>
                    </a:lnTo>
                    <a:lnTo>
                      <a:pt x="0" y="5904"/>
                    </a:lnTo>
                    <a:cubicBezTo>
                      <a:pt x="1762" y="137883"/>
                      <a:pt x="91995" y="259498"/>
                      <a:pt x="217827" y="304474"/>
                    </a:cubicBezTo>
                    <a:close/>
                  </a:path>
                </a:pathLst>
              </a:custGeom>
              <a:ln w="762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653128" cy="2536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148775" y="101600"/>
              <a:ext cx="1526374" cy="4355580"/>
              <a:chOff x="0" y="0"/>
              <a:chExt cx="301506" cy="86036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01506" cy="860362"/>
              </a:xfrm>
              <a:custGeom>
                <a:avLst/>
                <a:gdLst/>
                <a:ahLst/>
                <a:cxnLst/>
                <a:rect r="r" b="b" t="t" l="l"/>
                <a:pathLst>
                  <a:path h="860362" w="301506">
                    <a:moveTo>
                      <a:pt x="0" y="0"/>
                    </a:moveTo>
                    <a:lnTo>
                      <a:pt x="301506" y="0"/>
                    </a:lnTo>
                    <a:lnTo>
                      <a:pt x="301506" y="860362"/>
                    </a:lnTo>
                    <a:lnTo>
                      <a:pt x="0" y="860362"/>
                    </a:lnTo>
                    <a:close/>
                  </a:path>
                </a:pathLst>
              </a:custGeom>
              <a:solidFill>
                <a:srgbClr val="FFFAF3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301506" cy="917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</p:grpSp>
      <p:sp>
        <p:nvSpPr>
          <p:cNvPr name="TextBox 47" id="47"/>
          <p:cNvSpPr txBox="true"/>
          <p:nvPr/>
        </p:nvSpPr>
        <p:spPr>
          <a:xfrm rot="0">
            <a:off x="12493606" y="4022219"/>
            <a:ext cx="3146962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spc="160">
                <a:solidFill>
                  <a:srgbClr val="05070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00093" y="4689508"/>
            <a:ext cx="3414717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spc="65">
                <a:solidFill>
                  <a:srgbClr val="05070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Fastest/Cheapest Route optimization &amp; Comparison</a:t>
            </a:r>
          </a:p>
        </p:txBody>
      </p:sp>
      <p:sp>
        <p:nvSpPr>
          <p:cNvPr name="AutoShape 49" id="49"/>
          <p:cNvSpPr/>
          <p:nvPr/>
        </p:nvSpPr>
        <p:spPr>
          <a:xfrm>
            <a:off x="-539446" y="860405"/>
            <a:ext cx="188274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0" id="50"/>
          <p:cNvSpPr txBox="true"/>
          <p:nvPr/>
        </p:nvSpPr>
        <p:spPr>
          <a:xfrm rot="0">
            <a:off x="17515963" y="346885"/>
            <a:ext cx="489722" cy="5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30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[5]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DAHV_LJjrAc</dc:identifier>
  <dcterms:modified xsi:type="dcterms:W3CDTF">2011-08-01T06:04:30Z</dcterms:modified>
  <cp:revision>1</cp:revision>
  <dc:title>flightPlanner: Flight Routing Engine</dc:title>
</cp:coreProperties>
</file>